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NITK SURATHKAL — IT-301 PARALLEL COMPUTING</a:t>
            </a:r>
          </a:p>
          <a:p>
            <a:pPr>
              <a:spcBef>
                <a:spcPts val="1200"/>
              </a:spcBef>
              <a:defRPr sz="3600" b="1">
                <a:solidFill>
                  <a:srgbClr val="0F172A"/>
                </a:solidFill>
              </a:defRPr>
            </a:pPr>
            <a:r>
              <a:t>FABFS: Frontier-Adaptive CPU-GPU BFS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Dynamic Phase Transitions and Work-Stealing on Unified Managed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Author / Candidate: Rohan G (NITK) | Advisor / Evaluator Review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Target Architecture: NVIDIA GeForce RTX 4050 Laptop GPU (6 GB VRAM, Ada Lovelace sm_89) + 13th Gen Intel Core i5-13420H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Challenge: Frontier Phase Changes &amp; Work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1. Extreme Scale Variations Across BFS Levels: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Breadth-First Search traversals exhibit orders-of-magnitude frontier expansion. Boundary levels (root and leaf tiers) contain tens of vertices, while mid-traversal levels surge to hundreds of thousands of active nodes.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2. Static Partitioning Bottlenecks: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Offloading small frontiers to GPU wastes significant time in kernel launch overhead (~40 us) and memory synchronization. Furthermore, static edge-splitting stalls on hub-heavy power-law distributions due to intra-warp load imbalance.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3. Pure Dynamic Work-Stealing Pitfalls: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While Chase-Lev work-stealing balances skewed frontiers, running fine-grained dynamic queues on uniform, dense graphs induces unnecessary atomic CAS contention on Unified Managed Memory.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4. The Frontier-Adaptive Approach (FABFS):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Online lightweight characterization of frontier size (|F_l|) and degree skew (CV) to dynamically transition between Sequential CPU, Static Split, and Dynamic Work-Stealing without manual tuning.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Problem statement &amp; architectural trade-offs defined in Project_Plan.pdf and M6.pdf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 1: Frontier-Adaptive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0284C7"/>
                </a:solidFill>
              </a:defRPr>
            </a:pPr>
            <a:r>
              <a:t>• Rule 1: Sequential CPU Mode (SEQ)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</a:defRPr>
            </a:pPr>
            <a:r>
              <a:t>Condition: |F_l| &lt; T_min (1,024 vertices)</a:t>
            </a:r>
            <a:br/>
            <a:r>
              <a:t>Mechanism: Dispatched strictly to single CPU core. Completely bypasses thread pool synchronization and GPU kernel launch latency.</a:t>
            </a:r>
          </a:p>
          <a:p>
            <a:pPr>
              <a:spcBef>
                <a:spcPts val="1200"/>
              </a:spcBef>
              <a:defRPr sz="1400" b="1">
                <a:solidFill>
                  <a:srgbClr val="16A34A"/>
                </a:solidFill>
              </a:defRPr>
            </a:pPr>
            <a:r>
              <a:t>• Rule 2: Static Work Partitioning (STATIC)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</a:defRPr>
            </a:pPr>
            <a:r>
              <a:t>Condition: CV &lt;= T_CV (1.5) OR |F_l| &lt;= T_par (8,192 vertices)</a:t>
            </a:r>
            <a:br/>
            <a:r>
              <a:t>Mechanism: Prefix sum degree search splits frontier by edge count. GPU expands alpha = 15.26% of edge work; CPU OpenMP threads process remaining work in parallel.</a:t>
            </a:r>
          </a:p>
          <a:p>
            <a:pPr>
              <a:spcBef>
                <a:spcPts val="1200"/>
              </a:spcBef>
              <a:defRPr sz="1400" b="1">
                <a:solidFill>
                  <a:srgbClr val="EA580C"/>
                </a:solidFill>
              </a:defRPr>
            </a:pPr>
            <a:r>
              <a:t>• Rule 3: Dynamic Work-Stealing (DYNAMIC)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</a:defRPr>
            </a:pPr>
            <a:r>
              <a:t>Condition: High degree skew CV &gt; 1.5 AND |F_l| &gt; 8,192 vertices</a:t>
            </a:r>
            <a:br/>
            <a:r>
              <a:t>Mechanism: Lock-free Chase-Lev deques with weak memory orders. CPU workers execute local LIFO tasks while a dedicated GPU proxy steals and coalesces batches &gt;= 4,096 vertices.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Frozen calibrated parameters: config/thresholds.json (commit: 8dd8ad730e2eb6c5bf6e9491eb8401f9c7d792e3)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Evaluator Demo: Real Log Replay 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Replay from Real Execution Telemetry (Not a Mock-up):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The visualizer (demo/fabfs_demo.html) directly loads level rows produced by the M7 logger in results/levels.csv. It refuses to build on any hash or mode mismatch.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Interactive Canvas &amp; Concentric Layout: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Vertices are laid out deterministically. Color-coded states reflect level progression and expanding hardware device (CPU blue, GPU green, Dynamic orange).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Live Decision HUD &amp; Stealing Telemetry: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Provides real-time inspection of |F_l|, active edges, degree variance (CV), chunk sizes (C_l), steal success rates, and GPU proxy idle times.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Self-Contained &amp; Completely Offline: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Single HTML file requiring zero network requests, zero CDN links, and zero runtime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Verified run: demo_rmat10_run1 (demo/demo_run.csv, demo/demo_graph.bin)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Benchmark Execution Matrix (480 Total Runs)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Matrix Dimensions: 4 Policies x 8 Evaluation Graphs x 15 Rounds = 480 Runs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Includes 2 unrecorded warm-up runs per cell to eliminate cold-start caching and page-fault artifacts.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Strict Topology Isolation: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Calibration graphs (roadNet-PA, com-Amazon, com-DBLP, rmat_s16) strictly forbidden from evaluation matrix. Verified by runner manifest check.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Evaluation Topologies Represented: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• Planar Road Networks: roadNet-CA (1.97M nodes, 5.53M edges)</a:t>
            </a:r>
            <a:br/>
            <a:r>
              <a:t>• Web &amp; Social Networks: web-Google (875K nodes, 8.64M edges), com-LiveJournal (3.99M nodes, 69.36M edges), com-Orkut (3.07M nodes, 234.37M edges)</a:t>
            </a:r>
            <a:br/>
            <a:r>
              <a:t>• Synthetic R-MAT Topologies: Scale 20, 1M nodes, a in {0.25, 0.45, 0.55, 0.65}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Resilient Crash-Recovery Architecture: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Runner logs completions to results/runs.jsonl with atomic fsync. Any interrupted run has partial rows removed and restarts cleanly.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Table 1 (results/tables/table1_graph_properties.csv) and Table 4 (results/tables/table4_run_counts.csv)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Traversal Performance: Median Total Time by Policy</a:t>
            </a:r>
          </a:p>
        </p:txBody>
      </p:sp>
      <p:pic>
        <p:nvPicPr>
          <p:cNvPr id="4" name="Picture 3" descr="fig1_median_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Figure 1 (report/figures/fig1_median_times.png) &amp; Table 2 (report/tables/table2_policy_times.csv). 95% bootstrap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Adaptive Mode Transitions: Level Execution Trace</a:t>
            </a:r>
          </a:p>
        </p:txBody>
      </p:sp>
      <p:pic>
        <p:nvPicPr>
          <p:cNvPr id="4" name="Picture 3" descr="fig2_rmat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63040"/>
            <a:ext cx="8869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Figure 2 (report/figures/fig2_rmat_levels.png). Shaded bands reflect SEQ (blue), STATIC (green), DYNAMIC (orange).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Dispatch Mode Distribution Across Topologies</a:t>
            </a:r>
          </a:p>
        </p:txBody>
      </p:sp>
      <p:pic>
        <p:nvPicPr>
          <p:cNvPr id="4" name="Picture 3" descr="fig3_mode_sh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63040"/>
            <a:ext cx="8869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Figure 3 (report/figures/fig3_mode_shares.png). Share of BFS levels spent in SEQ, STATIC, and DYNAMIC modes.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Overhead Analysis: CPU Thread Scaling &amp; Managed Memory Atomics</a:t>
            </a:r>
          </a:p>
        </p:txBody>
      </p:sp>
      <p:pic>
        <p:nvPicPr>
          <p:cNvPr id="4" name="Picture 3" descr="fig4_cpu_at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5039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Figure 4 (report/figures/fig4_cpu_atomics.png) and Gate 1 evaluation telemetry (results/gate1.txt)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Telemetry: GPU Proxy Idle Overhead per Level</a:t>
            </a:r>
          </a:p>
        </p:txBody>
      </p:sp>
      <p:pic>
        <p:nvPicPr>
          <p:cNvPr id="4" name="Picture 3" descr="fig5_gpu_proxy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5039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Figure 5 (report/figures/fig5_gpu_proxy_idle.png). Distribution of gpu_idle_us across evaluation graphs.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Acceptance Verification: Adaptive Policy Pass/Fail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The Strict 5% Evaluation Rule: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Criterion: On every evaluation graph, the adaptive median total time must be within 5% of the better of Pure-Static and Pure-Dynamic:</a:t>
            </a:r>
            <a:br/>
            <a:r>
              <a:t>T_adaptive &lt;= 1.05 * min(T_static, T_dynamic). Zero manual overrides allowed.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Empirical Findings on Evaluated Topologies: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• Road Networks (roadNet-CA): Adaptive achieves 1,277 ms vs Pure-Static 2,771 ms (53.9% faster, clear PASS).</a:t>
            </a:r>
            <a:br/>
            <a:r>
              <a:t>• Power-Law Web Graph (web-Google): Adaptive achieves 1,593 ms vs Pure-Dynamic 1,751 ms (10% speedup).</a:t>
            </a:r>
            <a:br/>
            <a:r>
              <a:t>• Synthetic R-MAT Graphs: Dynamic work-stealing mitigates extreme degree skew (CV &gt; 3.5), maintaining near-oracle parity.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Deterministic Gate Verification: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Pass/fail logic is codified in analysis/stats.py and automatically checked via tests/test_analysis.py. Scripts exit with non-zero status on threshold violation.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Table 3 (report/tables/table3_pass_fail.csv) and analysis/stats.py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FABFS | IT-301 PARALLEL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Summary of Deliverables &amp; 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★ Core Engineering Modules (M0 - M8):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Verified CUDA level-synchronous kernel (M4), OpenMP CPU expander (M3), lock-free Chase-Lev deques (M5), cost model &amp; decision engine (M6), 28-column logger (M7), and crash-resilient matrix runner (M8).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★ Reproducible Analysis Suite (M9):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Automated data loader, bootstrap confidence intervals, LaTeX tables, high-resolution figures, and official report provenance numbers generated from raw CSV.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★ Live Demonstration &amp; Visual Presentation (M10):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Interactive replay visualizer (demo/fabfs_demo.html), complete 16:9 presentation deck (presentation/FABFS.pptx), and presenter walk-through guide (presentation/WALKTHROUGH.md).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★ Git &amp; Verification Integrity: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Every module developed on dedicated branches with clean PRs; all gates and test suites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* Source provenance: Project: FABFS (Frontier-Adaptive CPU-GPU BFS), IT-301 Parallel Computing, NITK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